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22"/>
    <p:sldId id="272" r:id="rId2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3.xml"/><Relationship Id="rId2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Agent Orchestration on Apache NiFi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3291840"/>
            <a:ext cx="1417320" cy="36576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 Heritage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3291840"/>
            <a:ext cx="1417320" cy="36576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3172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Production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3291840"/>
            <a:ext cx="1417320" cy="36576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3192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Fortune 100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32120" y="3291840"/>
            <a:ext cx="1417320" cy="36576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3212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132320" y="3291840"/>
            <a:ext cx="1417320" cy="36576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Architecture &amp; Value Proposition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Moving to Production.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 Isn’t Ready.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enterprises plan to deploy AI agents by 2026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 frameworks were designed for demos, not mission-critical workloads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governance, no audit trail, no cost control, no scaling path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are asking: "How do you control your autonomous AI systems?"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runaway agent can burn through your entire API budget in minutes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7EB"/>
                </a:solidFill>
              </a:defRPr>
            </a:pPr>
            <a:r>
              <a:t>The Data Foundation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The Reality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 Enterprise data is scattered across hundreds of sources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 Most data is messy, siloed, and unstructured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 Other AI companies need clean, API-ready data</a:t>
            </a:r>
          </a:p>
          <a:p>
            <a:pPr>
              <a:spcBef>
                <a:spcPts val="400"/>
              </a:spcBef>
              <a:defRPr sz="1100" b="0">
                <a:solidFill>
                  <a:srgbClr val="FCA5A5"/>
                </a:solidFill>
              </a:defRPr>
            </a:pPr>
            <a:r>
              <a:t>•  85% of AI projects fail due to poor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51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The Foundatation 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411480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 End-to-end data preparation pipeline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 Data Acquisition from ANY source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</a:defRPr>
            </a:pPr>
            <a:r>
              <a:t>•  Automated transformation and normalization</a:t>
            </a:r>
          </a:p>
          <a:p>
            <a:pPr>
              <a:spcBef>
                <a:spcPts val="400"/>
              </a:spcBef>
              <a:defRPr sz="1100" b="0">
                <a:solidFill>
                  <a:srgbClr val="6EE7B7"/>
                </a:solidFill>
              </a:defRPr>
            </a:pPr>
            <a:r>
              <a:t>•  AI-ready data — vectorized, indexed, optimized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407408"/>
            <a:ext cx="9144000" cy="25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5E7EB"/>
                </a:solidFill>
              </a:defRPr>
            </a:pPr>
            <a:r>
              <a:t>Enterprise Scale Product Enabled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7373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7373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Data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Connect to any</a:t>
            </a:r>
            <a:br/>
            <a: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057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80160"/>
            <a:ext cx="17373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280160"/>
            <a:ext cx="17373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417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945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Cleanse and</a:t>
            </a:r>
            <a:br/>
            <a:r>
              <a:t>reshape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57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280160"/>
            <a:ext cx="17373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1280160"/>
            <a:ext cx="17373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417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1945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Standardize and</a:t>
            </a:r>
            <a:br/>
            <a:r>
              <a:t>deduplicate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0574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1280160"/>
            <a:ext cx="17373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1280160"/>
            <a:ext cx="17373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417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AI-Ready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1945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</a:defRPr>
            </a:pPr>
            <a:r>
              <a:t>Vectorized and</a:t>
            </a:r>
            <a:br/>
            <a:r>
              <a:t>optimized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From raw enterprise data to production AI agents — that’s the Foundatation difference.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407408"/>
            <a:ext cx="9144000" cy="25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AgentFlow: AI Agent Orchestration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Enterprise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build another Python framework. We built AI agent capabilities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platform your infrastructure team already trusts.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031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Foundation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 — 10+ years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production.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of Fortune 100.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92024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Governance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audited.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governed.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code.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920240"/>
            <a:ext cx="25603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HA, 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back-pressure.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re-architecture.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Apache NiFi?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Credentials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NSA-origin technology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in enterprise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of Fortune 100 companies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FedRAMP, HIPAA, SOX approved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→ AgentFlow Mapping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NiFi 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AgentFlow Equivalent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/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Provenance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Rate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NiFi 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&amp; Management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C2333"/>
          </a:solidFill>
          <a:ln w="952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security team already approved NiFi. Your infrastructure team already runs it. Your compliance team already trusts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Five-Tier Architecture for Mission-Critical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0" y="137160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 3D UI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10812" y="137160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10812" y="137160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Canvas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78424" y="137160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78424" y="137160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46036" y="1188720"/>
            <a:ext cx="1357884" cy="33375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46036" y="1234440"/>
            <a:ext cx="135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205740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2240280"/>
            <a:ext cx="1847088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743200" y="22402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(Research)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0016" y="2240280"/>
            <a:ext cx="1847088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0016" y="22402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(Planner)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56832" y="2240280"/>
            <a:ext cx="1847088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56832" y="22402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 (Tools)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" y="292608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SERVICES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10896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43200" y="310896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LLMClientService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10812" y="310896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210812" y="310896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VectorDBService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78424" y="310896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78424" y="310896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ToolRegistryService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46036" y="3108960"/>
            <a:ext cx="1357884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46036" y="310896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GuardrailsService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" y="3794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0" y="3977640"/>
            <a:ext cx="868680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743200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21608" y="3977640"/>
            <a:ext cx="868680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21608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0016" y="3977640"/>
            <a:ext cx="868680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700016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78424" y="3977640"/>
            <a:ext cx="868680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678424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56832" y="3977640"/>
            <a:ext cx="868680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56832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635240" y="3977640"/>
            <a:ext cx="868680" cy="365760"/>
          </a:xfrm>
          <a:prstGeom prst="rect">
            <a:avLst>
              <a:gd name="adj" fmla="val 12500"/>
            </a:avLst>
          </a:prstGeom>
          <a:solidFill>
            <a:srgbClr val="1C2333"/>
          </a:solidFill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635240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389120" y="1874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▼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89120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89120" y="3611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▼</a:t>
            </a:r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7146036" y="1508760"/>
            <a:ext cx="135788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CBD5E1"/>
                </a:solidFill>
              </a:rPr>
              <a:t>Deployment &amp;</a:t>
            </a:r>
          </a:p>
          <a:p>
            <a:pPr algn="ctr"/>
            <a:r>
              <a:rPr sz="700">
                <a:solidFill>
                  <a:srgbClr val="CBD5E1"/>
                </a:solidFill>
              </a:rPr>
              <a:t>Management</a:t>
            </a:r>
          </a:p>
          <a:p>
            <a:pPr algn="ctr"/>
            <a:r>
              <a:rPr sz="700">
                <a:solidFill>
                  <a:srgbClr val="CBD5E1"/>
                </a:solidFill>
              </a:rPr>
              <a:t>Library</a:t>
            </a:r>
          </a:p>
          <a:p>
            <a:pPr algn="ctr">
              <a:spcBef>
                <a:spcPts val="600"/>
              </a:spcBef>
            </a:pPr>
            <a:r>
              <a:rPr sz="700">
                <a:solidFill>
                  <a:srgbClr val="F59E0B"/>
                </a:solidFill>
              </a:rPr>
              <a:t>───</a:t>
            </a:r>
          </a:p>
          <a:p>
            <a:pPr algn="ctr">
              <a:spcBef>
                <a:spcPts val="300"/>
              </a:spcBef>
            </a:pPr>
            <a:r>
              <a:rPr sz="650">
                <a:solidFill>
                  <a:srgbClr val="F59E0B"/>
                </a:solidFill>
              </a:rPr>
              <a:t>Pipeline Templates</a:t>
            </a:r>
          </a:p>
          <a:p>
            <a:pPr algn="ctr">
              <a:spcBef>
                <a:spcPts val="300"/>
              </a:spcBef>
            </a:pPr>
            <a:r>
              <a:rPr sz="650">
                <a:solidFill>
                  <a:srgbClr val="F59E0B"/>
                </a:solidFill>
              </a:rPr>
              <a:t>Agent Blueprints</a:t>
            </a:r>
          </a:p>
          <a:p>
            <a:pPr algn="ctr">
              <a:spcBef>
                <a:spcPts val="300"/>
              </a:spcBef>
            </a:pPr>
            <a:r>
              <a:rPr sz="650">
                <a:solidFill>
                  <a:srgbClr val="F59E0B"/>
                </a:solidFill>
              </a:rPr>
              <a:t>Service Configs</a:t>
            </a:r>
          </a:p>
          <a:p>
            <a:pPr algn="ctr">
              <a:spcBef>
                <a:spcPts val="300"/>
              </a:spcBef>
            </a:pPr>
            <a:r>
              <a:rPr sz="650">
                <a:solidFill>
                  <a:srgbClr val="F59E0B"/>
                </a:solidFill>
              </a:rPr>
              <a:t>Infra Profiles</a:t>
            </a:r>
          </a:p>
          <a:p>
            <a:pPr algn="ctr">
              <a:spcBef>
                <a:spcPts val="800"/>
              </a:spcBef>
            </a:pPr>
            <a:r>
              <a:rPr sz="700" b="1">
                <a:solidFill>
                  <a:srgbClr val="F59E0B"/>
                </a:solidFill>
              </a:rPr>
              <a:t>Spans All Tiers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Processes a Task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115568"/>
            <a:ext cx="256032" cy="256032"/>
          </a:xfrm>
          <a:prstGeom prst="oval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Received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FlowFile 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389888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1499616"/>
            <a:ext cx="256032" cy="256032"/>
          </a:xfrm>
          <a:prstGeom prst="oval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645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PII scan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1773936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1883664"/>
            <a:ext cx="256032" cy="256032"/>
          </a:xfrm>
          <a:prstGeom prst="oval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029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knowledge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2157984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2267712"/>
            <a:ext cx="256032" cy="256032"/>
          </a:xfrm>
          <a:prstGeom prst="oval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22494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414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reason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" y="2542032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2651760"/>
            <a:ext cx="256032" cy="256032"/>
          </a:xfrm>
          <a:prstGeom prst="oval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Decision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27980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or continue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26080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3035808"/>
            <a:ext cx="256032" cy="256032"/>
          </a:xfrm>
          <a:prstGeom prst="oval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3017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3182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MCP / SQL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3310128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48640" y="3419856"/>
            <a:ext cx="256032" cy="256032"/>
          </a:xfrm>
          <a:prstGeom prst="oval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3566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redact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" y="3694176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48640" y="3803904"/>
            <a:ext cx="256032" cy="256032"/>
          </a:xfrm>
          <a:prstGeom prst="oval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8640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0120" y="3785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" y="3950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VectorDB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8368" y="4078224"/>
            <a:ext cx="18288" cy="914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48640" y="4187952"/>
            <a:ext cx="256032" cy="256032"/>
          </a:xfrm>
          <a:prstGeom prst="oval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4864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Result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" y="4334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FlowFile out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0" y="1097280"/>
            <a:ext cx="521208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749040" y="1280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749040" y="1691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↔ Tool loop repeats autonomously until the task is complete — within guardrail boundaries.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configurable (default: 25)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Token/cost budgets enforced per-task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prevents queue overflow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recorded via Data Provenance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 at any step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Governance. Not an Afterthought.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34440"/>
            <a:ext cx="256032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92024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recorded — LLM calls, tool executions, routing decisions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Queryable, replayable, exportable for auditors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code required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56032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337560" y="123444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GuardrailsEnforcer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192024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redaction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policy enforcement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Token/cost budgets, iteration limits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Pre-LLM and post-LLM enforcement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234440"/>
            <a:ext cx="256032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217920" y="1234440"/>
            <a:ext cx="256032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HumanInTheLoop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192024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for high-risk actions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channels (UI, Slack, API)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rules for low-risk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of who approved what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AI agent framework with built-in compliance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Safety at the Infrastructure Level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1289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prevents runaway agents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1581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NiFi’s connection queues buffer naturally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39112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7200" y="2039112"/>
            <a:ext cx="54864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008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and cost budgets enforced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3865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and per-agent budget controls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843784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7200" y="284378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 sandboxed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31912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Docker/gVisor containers for isolation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648456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57200" y="3648456"/>
            <a:ext cx="54864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iteration limits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3995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infinite loops (default: 25)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1234440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754880" y="1234440"/>
            <a:ext cx="54864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937760" y="1289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action boundaries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37760" y="1581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delete_prod, no send_money without approval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2039112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754880" y="2039112"/>
            <a:ext cx="54864" cy="65836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93776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and redaction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37760" y="23865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and outputs scanned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2843784"/>
            <a:ext cx="40233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54880" y="2843784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3776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logging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937760" y="31912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guardrail check recorded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Framework Built for Production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1234440"/>
                <a:gridCol w="1051560"/>
                <a:gridCol w="105156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Sem.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Provenance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Agent Designer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Clustering/HA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&amp; Mgmt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Sandboxing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Year Track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Native    </a:t>
            </a:r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= Partial    </a:t>
            </a:r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= Not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Multi-Agent Collaboration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 → Researcher → Analyst → Writer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flow linearly, each agent enriches the FlowFile.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6908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54864" cy="1600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Worker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→ [Worker A | Worker B | Worker C] → Aggregator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decomposes and delegates to parallel workers.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6908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/ Consensus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Agent ↔ Con Agent → Judge → Consensus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debate, judge synthesizes final answer.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063240"/>
            <a:ext cx="406908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17720" y="306324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Fan-out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→ N Parallel Agents → Aggregator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parallel data processing pattern.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to Cluster. Zero Code Changes.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63040" y="1508760"/>
            <a:ext cx="502920" cy="502920"/>
          </a:xfrm>
          <a:prstGeom prst="oval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63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NiFi instance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agent design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iteration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1280160"/>
            <a:ext cx="260604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83280" y="1280160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89120" y="1508760"/>
            <a:ext cx="502920" cy="502920"/>
          </a:xfrm>
          <a:prstGeom prst="oval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3891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044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26060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Library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pipelines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tiers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1280160"/>
            <a:ext cx="260604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9360" y="12801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315200" y="1508760"/>
            <a:ext cx="502920" cy="502920"/>
          </a:xfrm>
          <a:prstGeom prst="oval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26060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cluster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coordination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definition runs everywhere. No re-architecture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Use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1417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1417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dispatches researchers, analysts synthesize, human approves before publish.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234440"/>
            <a:ext cx="4069080" cy="1417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617720" y="1234440"/>
            <a:ext cx="54864" cy="1417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Triage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4632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route to specialists, escalate edge cases via HITL approval gates.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069080" cy="1417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57200" y="288036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8580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analysis with PII detection, legal team approval gates, audit trail.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17720" y="2880360"/>
            <a:ext cx="4069080" cy="1417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4617720" y="288036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632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&amp; Review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84632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planning, code gen, peer review (debate pattern), security scan guardrails.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Enterprise-Grade Technology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 2.x (Java 21+)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6576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Claude, OpenAI, Bedrock, Ollama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6576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ChromaDB, pgvector, Weaviate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6576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971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6576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6576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6576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9204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ZooKeeper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783080"/>
            <a:ext cx="36576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920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NiFi Provenance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36576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9204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gVisor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36576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9204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2971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FlowSync Library, Git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566160"/>
            <a:ext cx="36576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89204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Three Fiber, Zustand, Tailwind CSS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AgentFlow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731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188720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governance eliminates compliance gaps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auditable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never leaks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for regulators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256032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337560" y="118872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2377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prevents API budget overruns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budgets per task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LLM connection pooling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re-architecture cost to scale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217920" y="118872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Deployment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55080" y="23774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design: weeks to days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dev to prod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governance code 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 time-to-production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6304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1600200"/>
            <a:ext cx="457200" cy="457200"/>
          </a:xfrm>
          <a:prstGeom prst="oval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53619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Deep-Dive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8470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session with your engineering team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3774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5840" y="2514600"/>
            <a:ext cx="457200" cy="457200"/>
          </a:xfrm>
          <a:prstGeom prst="oval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45059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7614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engagement with your use case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2918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3429000"/>
            <a:ext cx="457200" cy="457200"/>
          </a:xfrm>
          <a:prstGeom prst="oval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36499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36758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in 8–12 weeks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github.com/bjkolly/agentflow-nifi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 AI. Built on proven infrastructure.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AgentFlow — Enterprise AI Agent Orchestration</dc:title>
  <dc:subject>PptxGenJS Presentation</dc:subject>
  <dc:creator>AgentFlow</dc:creator>
  <cp:lastModifiedBy>AgentFlow</cp:lastModifiedBy>
  <cp:revision>1</cp:revision>
  <dcterms:created xsi:type="dcterms:W3CDTF">2026-03-11T02:05:23Z</dcterms:created>
  <dcterms:modified xsi:type="dcterms:W3CDTF">2026-03-11T02:05:23Z</dcterms:modified>
</cp:coreProperties>
</file>