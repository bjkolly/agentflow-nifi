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AgentFlow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Agent Orchestration on Apache NiFi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3291840"/>
            <a:ext cx="1417320" cy="365760"/>
          </a:xfrm>
          <a:prstGeom prst="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3291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 Heritage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31720" y="3291840"/>
            <a:ext cx="1417320" cy="365760"/>
          </a:xfrm>
          <a:prstGeom prst="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331720" y="3291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Production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931920" y="3291840"/>
            <a:ext cx="1417320" cy="365760"/>
          </a:xfrm>
          <a:prstGeom prst="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31920" y="3291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 Fortune 100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532120" y="3291840"/>
            <a:ext cx="1417320" cy="365760"/>
          </a:xfrm>
          <a:prstGeom prst="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532120" y="3291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132320" y="3291840"/>
            <a:ext cx="1417320" cy="365760"/>
          </a:xfrm>
          <a:prstGeom prst="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132320" y="3291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Architecture &amp; Value Proposition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Moving to Production.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Infrastructure Isn’t Ready.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2860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37160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of enterprises plan to deploy AI agents by 2026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agent frameworks were designed for demos, not mission-critical workloads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governance, no audit trail, no cost control, no scaling path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are asking: "How do you control your autonomous AI systems?"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runaway agent can burn through your entire API budget in minutes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AgentFlow: AI Agent Orchestration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Enterprise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didn’t build another Python framework. We built AI agent capabilities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platform your infrastructure team already trusts.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1031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Foundation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30632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NiFi — 10+ years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production.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 of Fortune 100.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1920240"/>
            <a:ext cx="256032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21031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7472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Governance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74720" y="30632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audited.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governed.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additional code.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1920240"/>
            <a:ext cx="256032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55080" y="30632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HA, version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control, back-pressure.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without re-architecture.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Apache NiFi?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Credentials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NSA-origin technology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in enterprise production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 of Fortune 100 companies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FedRAMP, HIPAA, SOX approved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097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 → AgentFlow Mapping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463040"/>
          <a:ext cx="4114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NiFi Concept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AgentFlow Equivalent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Capability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/ 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Provenance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Audit Trail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Back-pressure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&amp; Rate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NiFi Registry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Version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1C2333"/>
          </a:solidFill>
          <a:ln w="952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security team already approved NiFi. Your infrastructure team already runs it. Your compliance team already trusts it.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Four-Tier Architecture for Mission-Critical AI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37160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43200" y="137160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AgentFlow 3D UI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210812" y="137160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210812" y="137160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 Canvas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678424" y="137160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678424" y="137160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46036" y="137160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146036" y="137160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FlowSync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057400"/>
            <a:ext cx="822960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57200" y="2057400"/>
            <a:ext cx="54864" cy="7315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20574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0" y="2240280"/>
            <a:ext cx="1847088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743200" y="224028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 (Research)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00016" y="2240280"/>
            <a:ext cx="1847088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0016" y="224028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(Planner)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656832" y="2240280"/>
            <a:ext cx="1847088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656832" y="224028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 (Tools)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57200" y="2926080"/>
            <a:ext cx="54864" cy="7315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40080" y="2926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SERVICES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310896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743200" y="310896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LLMClientService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10812" y="310896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210812" y="310896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VectorDBService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78424" y="310896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678424" y="310896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ToolRegistryService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146036" y="3108960"/>
            <a:ext cx="1357884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146036" y="3108960"/>
            <a:ext cx="1357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GuardrailsService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57200" y="3794760"/>
            <a:ext cx="54864" cy="73152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40080" y="3794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0" y="3977640"/>
            <a:ext cx="868680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743200" y="3977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721608" y="3977640"/>
            <a:ext cx="868680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721608" y="3977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0016" y="3977640"/>
            <a:ext cx="868680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700016" y="3977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678424" y="3977640"/>
            <a:ext cx="868680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678424" y="3977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56832" y="3977640"/>
            <a:ext cx="868680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656832" y="3977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635240" y="3977640"/>
            <a:ext cx="868680" cy="365760"/>
          </a:xfrm>
          <a:prstGeom prst="rect">
            <a:avLst>
              <a:gd name="adj" fmla="val 12500"/>
            </a:avLst>
          </a:prstGeom>
          <a:solidFill>
            <a:srgbClr val="1C2333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635240" y="3977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ZooKeeper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389120" y="1874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▼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389120" y="27432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▼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389120" y="36118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▼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Agent Processes a Task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115568"/>
            <a:ext cx="256032" cy="256032"/>
          </a:xfrm>
          <a:prstGeom prst="oval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115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97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Received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12618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FlowFile 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1389888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1499616"/>
            <a:ext cx="256032" cy="256032"/>
          </a:xfrm>
          <a:prstGeom prst="oval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1499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6012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Guardrails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1645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PII scan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58368" y="1773936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1883664"/>
            <a:ext cx="256032" cy="256032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" y="186537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Retrieve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02996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knowledge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" y="2157984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2267712"/>
            <a:ext cx="256032" cy="256032"/>
          </a:xfrm>
          <a:prstGeom prst="oval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60120" y="22494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241401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reason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" y="2542032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2651760"/>
            <a:ext cx="256032" cy="256032"/>
          </a:xfrm>
          <a:prstGeom prst="oval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2651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26334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Decision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0120" y="279806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or continue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58368" y="2926080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3035808"/>
            <a:ext cx="256032" cy="256032"/>
          </a:xfrm>
          <a:prstGeom prst="oval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60120" y="3017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Executor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" y="31821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 MCP / SQL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58368" y="3310128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48640" y="3419856"/>
            <a:ext cx="256032" cy="256032"/>
          </a:xfrm>
          <a:prstGeom prst="oval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48640" y="3419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6012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Guardrails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0120" y="35661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redact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8368" y="3694176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8640" y="3803904"/>
            <a:ext cx="256032" cy="256032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48640" y="3803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60120" y="37856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Store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0120" y="395020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VectorDB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58368" y="4078224"/>
            <a:ext cx="18288" cy="9144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48640" y="4187952"/>
            <a:ext cx="256032" cy="256032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4864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60120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Result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60120" y="433425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FlowFile out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74720" y="1097280"/>
            <a:ext cx="5212080" cy="3657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749040" y="12801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Loop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3749040" y="169164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↔ Tool loop repeats autonomously until the task is complete — within guardrail boundaries.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Properties:
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iterations configurable (default: 25)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Token/cost budgets enforced per-task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Back-pressure prevents queue overflow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recorded via Data Provenance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gates at any step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Governance. Not an Afterthought.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234440"/>
            <a:ext cx="2560320" cy="2926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234440"/>
            <a:ext cx="256032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417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Provenance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1920240"/>
            <a:ext cx="2331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recorded — LLM calls, tool executions, routing decisions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Queryable, replayable, exportable for auditors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additional code required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37560" y="1234440"/>
            <a:ext cx="2560320" cy="2926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337560" y="1234440"/>
            <a:ext cx="256032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173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86200" y="1417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GuardrailsEnforcer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474720" y="1920240"/>
            <a:ext cx="2331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&amp; redaction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policy enforcement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Token/cost budgets, iteration limits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Pre-LLM and post-LLM enforcement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17920" y="1234440"/>
            <a:ext cx="2560320" cy="2926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217920" y="1234440"/>
            <a:ext cx="256032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1417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HumanInTheLoop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355080" y="1920240"/>
            <a:ext cx="2331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for high-risk actions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channels (UI, Slack, API)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rules for low-risk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of who approved what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AI agent framework with built-in compliance infrastructure.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Safety at the Infrastructure Level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28600"/>
            <a:ext cx="548640" cy="548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234440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1234440"/>
            <a:ext cx="54864" cy="65836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289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Back-pressure prevents runaway agents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15819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NiFi’s connection queues buffer naturally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039112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7200" y="2039112"/>
            <a:ext cx="54864" cy="65836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40080" y="20939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and cost budgets enforced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Per-task and per-agent budget controls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2843784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57200" y="2843784"/>
            <a:ext cx="54864" cy="6583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4008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execution sandboxed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31912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Docker/gVisor containers for isolation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648456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457200" y="3648456"/>
            <a:ext cx="54864" cy="6583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iteration limits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39959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infinite loops (default: 25)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754880" y="1234440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754880" y="1234440"/>
            <a:ext cx="54864" cy="65836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937760" y="1289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Prohibited action boundaries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37760" y="15819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delete_prod, no send_money without approval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54880" y="2039112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4754880" y="2039112"/>
            <a:ext cx="54864" cy="658368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4937760" y="20939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and redaction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37760" y="23865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and outputs scanned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754880" y="2843784"/>
            <a:ext cx="4023360" cy="65836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4754880" y="2843784"/>
            <a:ext cx="54864" cy="65836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49377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logging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937760" y="31912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guardrail check recorded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Framework Built for Production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1234440"/>
                <a:gridCol w="1051560"/>
                <a:gridCol w="105156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Sem. 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Provenance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Agent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Clustering/HA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Back-pressure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Version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Sandboxing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10+ Year Track Record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Native    </a:t>
            </a:r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= Partial    </a:t>
            </a:r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= Not Available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Multi-Agent Collaboration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234440"/>
            <a:ext cx="4069080" cy="1600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344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Pipeline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Intake → Researcher → Analyst → Writer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flow linearly, each agent enriches the FlowFile.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234440"/>
            <a:ext cx="4069080" cy="1600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1234440"/>
            <a:ext cx="54864" cy="1600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46320" y="1344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/ Worker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Supervisor → [Worker A | Worker B | Worker C] → Aggregator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148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decomposes and delegates to parallel workers.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4069080" cy="1600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3063240"/>
            <a:ext cx="54864" cy="1600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/ Consensus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 Agent ↔ Con Agent → Judge → Consensus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977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debate, judge synthesizes final answer.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3063240"/>
            <a:ext cx="4069080" cy="1600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617720" y="3063240"/>
            <a:ext cx="54864" cy="1600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MapReduce Fan-out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 → N Parallel Agents → Aggregator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977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parallel data processing pattern.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to Cluster. Zero Code Changes.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280160"/>
            <a:ext cx="2606040" cy="2743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280160"/>
            <a:ext cx="260604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463040" y="1508760"/>
            <a:ext cx="502920" cy="502920"/>
          </a:xfrm>
          <a:prstGeom prst="oval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63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21488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NiFi instance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agent design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63240" y="23774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383280" y="1280160"/>
            <a:ext cx="2606040" cy="2743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1280160"/>
            <a:ext cx="260604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389120" y="1508760"/>
            <a:ext cx="502920" cy="502920"/>
          </a:xfrm>
          <a:prstGeom prst="oval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3891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520440" y="21488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11880" y="260604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blueprints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89320" y="23774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▶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1280160"/>
            <a:ext cx="2606040" cy="2743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09360" y="1280160"/>
            <a:ext cx="260604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508760"/>
            <a:ext cx="502920" cy="502920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1488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37960" y="260604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cluster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ZooKeeper coordination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Prometheus/Grafana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definition runs everywhere. No re-architecture required.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Use Cases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234440"/>
            <a:ext cx="4069080" cy="14173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234440"/>
            <a:ext cx="54864" cy="1417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Research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" y="18745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dispatches researchers, analysts synthesize, human approves before publish.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17720" y="1234440"/>
            <a:ext cx="4069080" cy="14173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17720" y="1234440"/>
            <a:ext cx="54864" cy="14173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Support Triage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46320" y="18745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Classify, route to specialists, escalate edge cases via HITL approval gates.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880360"/>
            <a:ext cx="4069080" cy="14173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457200" y="2880360"/>
            <a:ext cx="54864" cy="1417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632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Review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85800" y="35204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analysis with PII detection, legal team approval gates, audit trail.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17720" y="2880360"/>
            <a:ext cx="4069080" cy="14173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4617720" y="2880360"/>
            <a:ext cx="54864" cy="14173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632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49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 &amp; Review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846320" y="35204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planning, code gen, peer review (debate pattern), security scan guardrails.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Enterprise-Grade Technology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188720"/>
            <a:ext cx="36576" cy="457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188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65960" y="11887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NiFi 2.x (Java 21+)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36576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65960" y="1783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Claude, OpenAI, Bedrock, Ollama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6576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23774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Pinecone, ChromaDB, pgvector, Weaviate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36576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4360" y="2971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65960" y="2971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36576" cy="4572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65960" y="3566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36576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65960" y="4160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HashiCorp Vault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1188720"/>
            <a:ext cx="36576" cy="457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892040" y="1188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11887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ZooKeeper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783080"/>
            <a:ext cx="36576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89204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1783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Grafana, NiFi Provenance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2377440"/>
            <a:ext cx="36576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89204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63640" y="23774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gVisor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2971800"/>
            <a:ext cx="36576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892040" y="2971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2971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FlowSync, Git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3566160"/>
            <a:ext cx="36576" cy="4572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89204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63640" y="3566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Three Fiber, Zustand, Tailwind CSS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 for AgentFlow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86968"/>
            <a:ext cx="73152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188720"/>
            <a:ext cx="2560320" cy="32004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256032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173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19659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Risk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94360" y="237744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governance eliminates compliance gaps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auditable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never leaks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audit trail for regulators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37560" y="1188720"/>
            <a:ext cx="2560320" cy="32004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337560" y="118872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19659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Cost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74720" y="237744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Back-pressure prevents API budget overruns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budgets per task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LLM connection pooling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re-architecture cost to scale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17920" y="1188720"/>
            <a:ext cx="2560320" cy="32004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217920" y="1188720"/>
            <a:ext cx="256032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41732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19659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Deployment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355080" y="237744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design: weeks to days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dev to prod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governance code needed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faster time-to-production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46304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5840" y="1600200"/>
            <a:ext cx="457200" cy="457200"/>
          </a:xfrm>
          <a:prstGeom prst="oval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15361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Deep-Dive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18470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2-hour session with your engineering team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768096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2377440"/>
            <a:ext cx="54864" cy="7315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005840" y="2514600"/>
            <a:ext cx="457200" cy="457200"/>
          </a:xfrm>
          <a:prstGeom prst="oval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058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91640" y="24505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91640" y="27614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engagement with your use case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291840"/>
            <a:ext cx="768096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329184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05840" y="3429000"/>
            <a:ext cx="457200" cy="457200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058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3364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91640" y="36758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in 8–12 weeks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github.com/bjkolly/agentflow-nifi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Agentic AI. Built on proven infrastructure.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AgentFlow — Enterprise AI Agent Orchestration</dc:title>
  <dc:subject>PptxGenJS Presentation</dc:subject>
  <dc:creator>AgentFlow</dc:creator>
  <cp:lastModifiedBy>AgentFlow</cp:lastModifiedBy>
  <cp:revision>1</cp:revision>
  <dcterms:created xsi:type="dcterms:W3CDTF">2026-03-11T02:05:23Z</dcterms:created>
  <dcterms:modified xsi:type="dcterms:W3CDTF">2026-03-11T02:05:23Z</dcterms:modified>
</cp:coreProperties>
</file>